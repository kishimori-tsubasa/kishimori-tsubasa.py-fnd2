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shimori, Tsubasa/岸森 翼" userId="6f6acb40-7ff7-4fe5-b2e9-7e2f9012499d" providerId="ADAL" clId="{179B5354-6D07-42D8-813F-EEA96417E8B5}"/>
    <pc:docChg chg="delSld">
      <pc:chgData name="Kishimori, Tsubasa/岸森 翼" userId="6f6acb40-7ff7-4fe5-b2e9-7e2f9012499d" providerId="ADAL" clId="{179B5354-6D07-42D8-813F-EEA96417E8B5}" dt="2026-01-20T08:15:29.877" v="0" actId="47"/>
      <pc:docMkLst>
        <pc:docMk/>
      </pc:docMkLst>
      <pc:sldChg chg="del">
        <pc:chgData name="Kishimori, Tsubasa/岸森 翼" userId="6f6acb40-7ff7-4fe5-b2e9-7e2f9012499d" providerId="ADAL" clId="{179B5354-6D07-42D8-813F-EEA96417E8B5}" dt="2026-01-20T08:15:29.877" v="0" actId="47"/>
        <pc:sldMkLst>
          <pc:docMk/>
          <pc:sldMk cId="842640399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0D2403-730B-C4AE-2C0E-85375A4864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A322967-C0CC-4B66-8BD4-81ED0DCE23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757341-36DA-10FC-F260-5031879CD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6C42-7D3D-4B6B-B2A4-B31C9AD02F41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1CF3C7-872F-4717-F4CB-12DC47109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9106AA-1D00-D904-0926-476BBEF64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786F-D478-472B-87FC-FDA810E874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4600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7C1BC1-F6D5-8A92-0B9D-23303FAB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CBD072-277C-EFB4-F84B-66CBE65D8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D68257-713C-7C4A-BBB0-682611802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6C42-7D3D-4B6B-B2A4-B31C9AD02F41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AC524D-50CC-2C9F-DC42-D546C69F6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689255-2205-A3AD-44B2-FAB591FC1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786F-D478-472B-87FC-FDA810E874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5392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8997DD-4AF6-AC7E-330D-B42FAF7F8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893EE3-AC59-BD7B-D3EF-0C595C475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23B77C-EFDD-9A6A-E1AC-1D38E45EA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6C42-7D3D-4B6B-B2A4-B31C9AD02F41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1C51B19-49B1-9332-1DA6-5DA8CBD33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04ADF4-95A2-B652-D863-2E09D3AF6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786F-D478-472B-87FC-FDA810E874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4908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5A0C0D-F453-E656-24B6-38CFBF379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7FBBFA-218A-9D0E-18BB-4B068ACE59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510770C-04D0-BF29-7914-74D16E95B2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ACA261A-3EDE-CED0-28D3-40F109087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6C42-7D3D-4B6B-B2A4-B31C9AD02F41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04849C6-8357-8AB8-B62B-1FB6D00CC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C7CF7B8-4097-A6CA-6464-B89B06B7B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786F-D478-472B-87FC-FDA810E874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4728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5393E4-0E4C-699A-C1BF-F7D220AD1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4E0CF95-6CA2-F42B-7F0B-033275A84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EB348C8-F8F2-B5B2-4914-A743F3F61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C8F51D9-F342-B670-97A8-3CFDBCBD28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E74A063-39E9-CAF2-BC5E-E43D5C23E0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A9E5EB9-4B78-7665-FB33-3A74816BC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6C42-7D3D-4B6B-B2A4-B31C9AD02F41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41C6784-544D-1DF5-3F75-D34DFE598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FF91CB3-D1C2-5907-FC63-68C8D31F0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786F-D478-472B-87FC-FDA810E874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3203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6B88AE-927C-BCB2-891E-15FC1A57A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46F3AA8-EB9A-6888-701A-0D2B3A593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6C42-7D3D-4B6B-B2A4-B31C9AD02F41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CE955D6-18E6-034F-CB58-FCDE9A62E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EF39D8F-776D-4342-2AFD-67B64424A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786F-D478-472B-87FC-FDA810E874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8558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21C6DF9-BD28-78CE-2AB8-BC154E3E8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6C42-7D3D-4B6B-B2A4-B31C9AD02F41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C8C9D3A-0A0C-6301-E825-4DECB47FC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271511F-4282-8632-F2BA-3CB2A5C5F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786F-D478-472B-87FC-FDA810E874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7475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DC75F0-6052-B322-D34D-6F9AB8200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A904038-3406-5F22-B567-4385A3F7D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9E5432B-6EBC-1782-C446-E2D8DB25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532937-0C6A-0E83-C29A-570390C4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6C42-7D3D-4B6B-B2A4-B31C9AD02F41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D802A25-A85F-1D12-6942-B6B4F7066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2F34757-AB92-4BE2-A24A-ED8299B17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786F-D478-472B-87FC-FDA810E874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0685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5B9FBC-61F5-29EB-C9CD-3E1BF41EF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566D8A2-898A-36FB-1D9E-52FE89E8B8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FE056F5-FFEB-0EA9-1E20-399D0F335F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4D2467B-180C-53FB-19C5-39DD5FCBB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6C42-7D3D-4B6B-B2A4-B31C9AD02F41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431CE2C-5254-355E-C476-C3D3BFAD4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8CF809-F509-261E-1532-61F13A6F0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786F-D478-472B-87FC-FDA810E874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0876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897C51-7657-75DB-EAD6-C1E434265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5FBC68A-9A1A-8141-180D-73F27209C6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541F60-6668-E547-33AC-4A47F0D79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6C42-7D3D-4B6B-B2A4-B31C9AD02F41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D0C862-14B4-4345-EF72-72BDFE62D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9FA7F81-B8C4-6FB8-E055-3554CB633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786F-D478-472B-87FC-FDA810E874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1564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5C48BDA-132C-EB04-BF74-D83EEB0E5A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F05BCBB-B13F-3BE5-226B-1C1BB3B88A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B2FC0E-B430-3110-1653-A8E4BE277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6C42-7D3D-4B6B-B2A4-B31C9AD02F41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4056FF-0737-7625-D63D-5E542EDA0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22EA8FA-E0E8-37CB-AC91-DB9E4EDDF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786F-D478-472B-87FC-FDA810E874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2320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F1B07EB-4D0A-8330-6EA1-ED04699DF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C0CA626-1FE0-BA89-DA1D-382B1D410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DFBFD36-E8B8-0DFF-D9E7-F6E7221414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356C42-7D3D-4B6B-B2A4-B31C9AD02F41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D535FA-F4DB-7E0F-C198-2BD9F9B57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26C843F-171D-227E-BFDC-B2176AD8E3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EF786F-D478-472B-87FC-FDA810E874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819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hyperlink" Target="https://www.physical-computing.jp/group/6" TargetMode="External"/><Relationship Id="rId12" Type="http://schemas.openxmlformats.org/officeDocument/2006/relationships/hyperlink" Target="https://pixabay.com/ja/%E3%83%93%E3%82%B8%E3%83%8D%E3%82%B9%E3%81%AE%E7%94%B7%E6%80%A7-%E7%94%B7-%E3%83%8D%E3%82%AF%E3%82%BF%E3%82%A4-%E3%82%B9%E3%83%BC%E3%83%84-%E3%83%93%E3%82%B8%E3%83%8D%E3%82%B9-%E3%82%B7%E3%83%AB%E3%82%A8%E3%83%83%E3%83%88-%E7%94%B7%E6%80%A7-147093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11" Type="http://schemas.openxmlformats.org/officeDocument/2006/relationships/image" Target="../media/image8.png"/><Relationship Id="rId5" Type="http://schemas.openxmlformats.org/officeDocument/2006/relationships/image" Target="../media/image4.jpeg"/><Relationship Id="rId10" Type="http://schemas.openxmlformats.org/officeDocument/2006/relationships/hyperlink" Target="https://pixabay.com/ja/vectors/%E3%82%B5%E3%83%BC%E3%83%90%E3%83%BC-%E3%83%8F%E3%83%BC%E3%83%89%E3%82%A6%E3%82%A7%E3%82%A2-37258/" TargetMode="External"/><Relationship Id="rId4" Type="http://schemas.openxmlformats.org/officeDocument/2006/relationships/image" Target="../media/image3.jpe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481169-D5AE-D5BD-0AD7-9DD27D936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9937" y="2624549"/>
            <a:ext cx="10572125" cy="1608902"/>
          </a:xfrm>
        </p:spPr>
        <p:txBody>
          <a:bodyPr wrap="none">
            <a:spAutoFit/>
          </a:bodyPr>
          <a:lstStyle/>
          <a:p>
            <a:pPr algn="l"/>
            <a:r>
              <a:rPr kumimoji="1" lang="ja-JP" altLang="en-US" sz="5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ラズパイを活用し</a:t>
            </a:r>
            <a:br>
              <a:rPr kumimoji="1" lang="en-US" altLang="ja-JP" sz="5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kumimoji="1" lang="ja-JP" altLang="en-US" sz="5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業務効率化にチャレンジ！</a:t>
            </a: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13AF33B9-2F4A-914B-B9D0-AC7852194AC5}"/>
              </a:ext>
            </a:extLst>
          </p:cNvPr>
          <p:cNvSpPr txBox="1">
            <a:spLocks/>
          </p:cNvSpPr>
          <p:nvPr/>
        </p:nvSpPr>
        <p:spPr>
          <a:xfrm>
            <a:off x="4766569" y="6341446"/>
            <a:ext cx="7425431" cy="348557"/>
          </a:xfrm>
          <a:prstGeom prst="rect">
            <a:avLst/>
          </a:prstGeom>
        </p:spPr>
        <p:txBody>
          <a:bodyPr vert="horz" wrap="non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モビリティ材料技術部　第</a:t>
            </a:r>
            <a:r>
              <a:rPr lang="en-US" altLang="ja-JP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試験課　第</a:t>
            </a:r>
            <a:r>
              <a:rPr lang="en-US" altLang="ja-JP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試験課係　</a:t>
            </a:r>
            <a:r>
              <a:rPr lang="en-US" altLang="ja-JP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432</a:t>
            </a: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組　岸森 翼</a:t>
            </a:r>
          </a:p>
        </p:txBody>
      </p:sp>
    </p:spTree>
    <p:extLst>
      <p:ext uri="{BB962C8B-B14F-4D97-AF65-F5344CB8AC3E}">
        <p14:creationId xmlns:p14="http://schemas.microsoft.com/office/powerpoint/2010/main" val="1386911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C5FACF02-41A5-1742-C7A7-F4D22EED97ED}"/>
              </a:ext>
            </a:extLst>
          </p:cNvPr>
          <p:cNvSpPr/>
          <p:nvPr/>
        </p:nvSpPr>
        <p:spPr>
          <a:xfrm>
            <a:off x="6566901" y="4743350"/>
            <a:ext cx="907033" cy="15260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E39E3724-096F-E51D-B4F1-57957C093E4C}"/>
              </a:ext>
            </a:extLst>
          </p:cNvPr>
          <p:cNvSpPr txBox="1">
            <a:spLocks/>
          </p:cNvSpPr>
          <p:nvPr/>
        </p:nvSpPr>
        <p:spPr>
          <a:xfrm>
            <a:off x="240594" y="201397"/>
            <a:ext cx="2339102" cy="43396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ラズパイとは？</a:t>
            </a:r>
          </a:p>
        </p:txBody>
      </p:sp>
      <p:sp>
        <p:nvSpPr>
          <p:cNvPr id="5" name="タイトル 1">
            <a:extLst>
              <a:ext uri="{FF2B5EF4-FFF2-40B4-BE49-F238E27FC236}">
                <a16:creationId xmlns:a16="http://schemas.microsoft.com/office/drawing/2014/main" id="{0A886421-882C-8EA1-C15E-C9E08315E44D}"/>
              </a:ext>
            </a:extLst>
          </p:cNvPr>
          <p:cNvSpPr txBox="1">
            <a:spLocks/>
          </p:cNvSpPr>
          <p:nvPr/>
        </p:nvSpPr>
        <p:spPr>
          <a:xfrm>
            <a:off x="6216770" y="201398"/>
            <a:ext cx="5416868" cy="43396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試験動画撮影作業の改善にチャレンジ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2A0B2E91-1139-D054-1A0E-2000947DC52F}"/>
              </a:ext>
            </a:extLst>
          </p:cNvPr>
          <p:cNvCxnSpPr>
            <a:cxnSpLocks/>
          </p:cNvCxnSpPr>
          <p:nvPr/>
        </p:nvCxnSpPr>
        <p:spPr>
          <a:xfrm>
            <a:off x="6096000" y="201398"/>
            <a:ext cx="0" cy="65013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6CFCBFEE-C8F1-842C-743F-5819134FF232}"/>
              </a:ext>
            </a:extLst>
          </p:cNvPr>
          <p:cNvGrpSpPr/>
          <p:nvPr/>
        </p:nvGrpSpPr>
        <p:grpSpPr>
          <a:xfrm>
            <a:off x="162635" y="1126049"/>
            <a:ext cx="3089318" cy="2302951"/>
            <a:chOff x="8310424" y="2863956"/>
            <a:chExt cx="3256352" cy="2463501"/>
          </a:xfrm>
        </p:grpSpPr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0BD9DD40-F803-BEB4-4D63-35B37DA6EA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555"/>
            <a:stretch/>
          </p:blipFill>
          <p:spPr>
            <a:xfrm>
              <a:off x="8310424" y="3028791"/>
              <a:ext cx="3216998" cy="2298666"/>
            </a:xfrm>
            <a:prstGeom prst="rect">
              <a:avLst/>
            </a:prstGeom>
          </p:spPr>
        </p:pic>
        <p:pic>
          <p:nvPicPr>
            <p:cNvPr id="13" name="図 12">
              <a:extLst>
                <a:ext uri="{FF2B5EF4-FFF2-40B4-BE49-F238E27FC236}">
                  <a16:creationId xmlns:a16="http://schemas.microsoft.com/office/drawing/2014/main" id="{39BAA773-3787-D190-07BE-D968BAF01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825139" y="2863956"/>
              <a:ext cx="741637" cy="876481"/>
            </a:xfrm>
            <a:prstGeom prst="rect">
              <a:avLst/>
            </a:prstGeom>
          </p:spPr>
        </p:pic>
      </p:grpSp>
      <p:sp>
        <p:nvSpPr>
          <p:cNvPr id="14" name="タイトル 1">
            <a:extLst>
              <a:ext uri="{FF2B5EF4-FFF2-40B4-BE49-F238E27FC236}">
                <a16:creationId xmlns:a16="http://schemas.microsoft.com/office/drawing/2014/main" id="{EE6E6024-8249-2B3C-1458-135E99399878}"/>
              </a:ext>
            </a:extLst>
          </p:cNvPr>
          <p:cNvSpPr txBox="1">
            <a:spLocks/>
          </p:cNvSpPr>
          <p:nvPr/>
        </p:nvSpPr>
        <p:spPr>
          <a:xfrm>
            <a:off x="3322268" y="1397181"/>
            <a:ext cx="2844048" cy="109645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◆メリット</a:t>
            </a:r>
            <a:endParaRPr lang="en-US" altLang="ja-JP" sz="1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・複雑な処理ができる</a:t>
            </a:r>
            <a:endParaRPr lang="en-US" altLang="ja-JP" sz="1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1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PC</a:t>
            </a:r>
            <a:r>
              <a:rPr lang="ja-JP" altLang="en-US" sz="1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としても扱える</a:t>
            </a:r>
            <a:endParaRPr lang="en-US" altLang="ja-JP" sz="1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・単体で</a:t>
            </a:r>
            <a:r>
              <a:rPr lang="en-US" altLang="ja-JP" sz="1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Wi-Fi</a:t>
            </a:r>
            <a:r>
              <a:rPr lang="ja-JP" altLang="en-US" sz="1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に接続可能</a:t>
            </a:r>
          </a:p>
        </p:txBody>
      </p:sp>
      <p:sp>
        <p:nvSpPr>
          <p:cNvPr id="15" name="タイトル 1">
            <a:extLst>
              <a:ext uri="{FF2B5EF4-FFF2-40B4-BE49-F238E27FC236}">
                <a16:creationId xmlns:a16="http://schemas.microsoft.com/office/drawing/2014/main" id="{4A563D1A-1BBE-92C6-3E2C-2464AC161AD9}"/>
              </a:ext>
            </a:extLst>
          </p:cNvPr>
          <p:cNvSpPr txBox="1">
            <a:spLocks/>
          </p:cNvSpPr>
          <p:nvPr/>
        </p:nvSpPr>
        <p:spPr>
          <a:xfrm>
            <a:off x="3322268" y="2662390"/>
            <a:ext cx="1734321" cy="597856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◆言語</a:t>
            </a:r>
            <a:endParaRPr lang="en-US" altLang="ja-JP" sz="1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8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・主に</a:t>
            </a:r>
            <a:r>
              <a:rPr lang="en-US" altLang="ja-JP" sz="18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python</a:t>
            </a:r>
            <a:endParaRPr lang="ja-JP" altLang="en-US" sz="1800" b="1" u="sng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タイトル 1">
            <a:extLst>
              <a:ext uri="{FF2B5EF4-FFF2-40B4-BE49-F238E27FC236}">
                <a16:creationId xmlns:a16="http://schemas.microsoft.com/office/drawing/2014/main" id="{CDAA35AC-1B40-5AC6-901C-D078BDB02099}"/>
              </a:ext>
            </a:extLst>
          </p:cNvPr>
          <p:cNvSpPr txBox="1">
            <a:spLocks/>
          </p:cNvSpPr>
          <p:nvPr/>
        </p:nvSpPr>
        <p:spPr>
          <a:xfrm>
            <a:off x="317538" y="770161"/>
            <a:ext cx="2492990" cy="34855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◆小型のコンピュータ</a:t>
            </a:r>
          </a:p>
        </p:txBody>
      </p:sp>
      <p:sp>
        <p:nvSpPr>
          <p:cNvPr id="17" name="タイトル 1">
            <a:extLst>
              <a:ext uri="{FF2B5EF4-FFF2-40B4-BE49-F238E27FC236}">
                <a16:creationId xmlns:a16="http://schemas.microsoft.com/office/drawing/2014/main" id="{717E00F0-3C05-B437-581D-CCA87CD3CF4B}"/>
              </a:ext>
            </a:extLst>
          </p:cNvPr>
          <p:cNvSpPr txBox="1">
            <a:spLocks/>
          </p:cNvSpPr>
          <p:nvPr/>
        </p:nvSpPr>
        <p:spPr>
          <a:xfrm>
            <a:off x="317538" y="3583092"/>
            <a:ext cx="5724644" cy="34855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◆モジュールを付けることで様々なことが可能となる</a:t>
            </a:r>
            <a:endParaRPr lang="en-US" altLang="ja-JP" sz="1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タイトル 1">
            <a:extLst>
              <a:ext uri="{FF2B5EF4-FFF2-40B4-BE49-F238E27FC236}">
                <a16:creationId xmlns:a16="http://schemas.microsoft.com/office/drawing/2014/main" id="{A5D73ACE-2C01-C6BB-BBF7-8741AEE212EC}"/>
              </a:ext>
            </a:extLst>
          </p:cNvPr>
          <p:cNvSpPr txBox="1">
            <a:spLocks/>
          </p:cNvSpPr>
          <p:nvPr/>
        </p:nvSpPr>
        <p:spPr>
          <a:xfrm>
            <a:off x="1391207" y="3960118"/>
            <a:ext cx="4677884" cy="29161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例</a:t>
            </a:r>
            <a:r>
              <a:rPr lang="en-US" altLang="ja-JP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lang="ja-JP" altLang="en-US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監視カメラ、鍵付きキーボックス、温度センサー</a:t>
            </a:r>
            <a:r>
              <a:rPr lang="en-US" altLang="ja-JP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...</a:t>
            </a:r>
          </a:p>
        </p:txBody>
      </p:sp>
      <p:pic>
        <p:nvPicPr>
          <p:cNvPr id="1026" name="Picture 2" descr="Tinker Board向け187度超広角・小型カメラモジュール">
            <a:extLst>
              <a:ext uri="{FF2B5EF4-FFF2-40B4-BE49-F238E27FC236}">
                <a16:creationId xmlns:a16="http://schemas.microsoft.com/office/drawing/2014/main" id="{1C91592E-471C-89C7-583F-CC6077580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635" y="4518457"/>
            <a:ext cx="1750908" cy="1750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Q-2 Gas Sensor - ガスセンサー">
            <a:extLst>
              <a:ext uri="{FF2B5EF4-FFF2-40B4-BE49-F238E27FC236}">
                <a16:creationId xmlns:a16="http://schemas.microsoft.com/office/drawing/2014/main" id="{EE416703-70AE-2BF1-B854-150CF69402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95" t="14830" r="17321" b="14227"/>
          <a:stretch/>
        </p:blipFill>
        <p:spPr bwMode="auto">
          <a:xfrm>
            <a:off x="1756923" y="4653951"/>
            <a:ext cx="1691958" cy="1433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スピーカーセット　８Ω ５W">
            <a:extLst>
              <a:ext uri="{FF2B5EF4-FFF2-40B4-BE49-F238E27FC236}">
                <a16:creationId xmlns:a16="http://schemas.microsoft.com/office/drawing/2014/main" id="{021C7569-6567-A694-6083-0892376235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63" t="23849" r="13089" b="28405"/>
          <a:stretch/>
        </p:blipFill>
        <p:spPr bwMode="auto">
          <a:xfrm>
            <a:off x="3507832" y="4653951"/>
            <a:ext cx="2323626" cy="148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タイトル 1">
            <a:extLst>
              <a:ext uri="{FF2B5EF4-FFF2-40B4-BE49-F238E27FC236}">
                <a16:creationId xmlns:a16="http://schemas.microsoft.com/office/drawing/2014/main" id="{EFB47AF8-E931-9D21-46B0-E485A7DB4C96}"/>
              </a:ext>
            </a:extLst>
          </p:cNvPr>
          <p:cNvSpPr txBox="1">
            <a:spLocks/>
          </p:cNvSpPr>
          <p:nvPr/>
        </p:nvSpPr>
        <p:spPr>
          <a:xfrm>
            <a:off x="6256359" y="6283582"/>
            <a:ext cx="1800493" cy="48551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ラズパイカメラにて</a:t>
            </a:r>
            <a:endParaRPr lang="en-US" altLang="ja-JP" sz="1400" b="1" u="sng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試験動画を撮影</a:t>
            </a:r>
            <a:endParaRPr lang="en-US" altLang="ja-JP" sz="1400" b="1" u="sng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タイトル 1">
            <a:extLst>
              <a:ext uri="{FF2B5EF4-FFF2-40B4-BE49-F238E27FC236}">
                <a16:creationId xmlns:a16="http://schemas.microsoft.com/office/drawing/2014/main" id="{1B84C1F8-CFBA-6A74-86F8-5AB8C432815B}"/>
              </a:ext>
            </a:extLst>
          </p:cNvPr>
          <p:cNvSpPr txBox="1">
            <a:spLocks/>
          </p:cNvSpPr>
          <p:nvPr/>
        </p:nvSpPr>
        <p:spPr>
          <a:xfrm>
            <a:off x="2130687" y="6087839"/>
            <a:ext cx="1261884" cy="29161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ガスセンサー</a:t>
            </a:r>
            <a:endParaRPr lang="en-US" altLang="ja-JP" sz="1400" b="1" u="sng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タイトル 1">
            <a:extLst>
              <a:ext uri="{FF2B5EF4-FFF2-40B4-BE49-F238E27FC236}">
                <a16:creationId xmlns:a16="http://schemas.microsoft.com/office/drawing/2014/main" id="{CB8FB05D-FEDC-727E-302A-D4CAE4D81385}"/>
              </a:ext>
            </a:extLst>
          </p:cNvPr>
          <p:cNvSpPr txBox="1">
            <a:spLocks/>
          </p:cNvSpPr>
          <p:nvPr/>
        </p:nvSpPr>
        <p:spPr>
          <a:xfrm>
            <a:off x="4106655" y="6136698"/>
            <a:ext cx="1800493" cy="48551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スピーカー</a:t>
            </a:r>
            <a:endParaRPr lang="en-US" altLang="ja-JP" sz="1400" b="1" u="sng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・・・・</a:t>
            </a:r>
            <a:endParaRPr lang="en-US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タイトル 1">
            <a:extLst>
              <a:ext uri="{FF2B5EF4-FFF2-40B4-BE49-F238E27FC236}">
                <a16:creationId xmlns:a16="http://schemas.microsoft.com/office/drawing/2014/main" id="{E9A1EC14-F2E9-B6A0-801C-E7A072AD00A7}"/>
              </a:ext>
            </a:extLst>
          </p:cNvPr>
          <p:cNvSpPr txBox="1">
            <a:spLocks/>
          </p:cNvSpPr>
          <p:nvPr/>
        </p:nvSpPr>
        <p:spPr>
          <a:xfrm>
            <a:off x="212560" y="6490641"/>
            <a:ext cx="5375189" cy="26314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引用元：</a:t>
            </a:r>
            <a:r>
              <a:rPr lang="en-US" altLang="ja-JP" sz="1200" dirty="0">
                <a:hlinkClick r:id="rId7"/>
              </a:rPr>
              <a:t>Raspberry Pi</a:t>
            </a:r>
            <a:r>
              <a:rPr lang="ja-JP" altLang="en-US" sz="1200" dirty="0">
                <a:hlinkClick r:id="rId7"/>
              </a:rPr>
              <a:t>、</a:t>
            </a:r>
            <a:r>
              <a:rPr lang="en-US" altLang="ja-JP" sz="1200" dirty="0">
                <a:hlinkClick r:id="rId7"/>
              </a:rPr>
              <a:t>Arduino</a:t>
            </a:r>
            <a:r>
              <a:rPr lang="ja-JP" altLang="en-US" sz="1200" dirty="0">
                <a:hlinkClick r:id="rId7"/>
              </a:rPr>
              <a:t>などで使えるセンサーやセンシングデバイス</a:t>
            </a:r>
            <a:endParaRPr lang="en-US" altLang="ja-JP" sz="1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B700CA8-EC40-14F7-9E48-300737F936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0858" y="1118718"/>
            <a:ext cx="1631889" cy="1466895"/>
          </a:xfrm>
          <a:prstGeom prst="rect">
            <a:avLst/>
          </a:prstGeom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643E6726-1D9A-ACDF-BFE6-2BE41E9D680A}"/>
              </a:ext>
            </a:extLst>
          </p:cNvPr>
          <p:cNvSpPr txBox="1">
            <a:spLocks/>
          </p:cNvSpPr>
          <p:nvPr/>
        </p:nvSpPr>
        <p:spPr>
          <a:xfrm>
            <a:off x="6488846" y="2628246"/>
            <a:ext cx="1620957" cy="29161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試験中の動画撮影</a:t>
            </a:r>
            <a:endParaRPr lang="en-US" altLang="ja-JP" sz="1400" b="1" u="sng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328ED0AA-E539-37EE-95AF-C654D6F87096}"/>
              </a:ext>
            </a:extLst>
          </p:cNvPr>
          <p:cNvSpPr txBox="1">
            <a:spLocks/>
          </p:cNvSpPr>
          <p:nvPr/>
        </p:nvSpPr>
        <p:spPr>
          <a:xfrm>
            <a:off x="8743120" y="2628246"/>
            <a:ext cx="1082348" cy="29161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撮影セット</a:t>
            </a:r>
            <a:endParaRPr lang="en-US" altLang="ja-JP" sz="1400" b="1" u="sng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タイトル 1">
            <a:extLst>
              <a:ext uri="{FF2B5EF4-FFF2-40B4-BE49-F238E27FC236}">
                <a16:creationId xmlns:a16="http://schemas.microsoft.com/office/drawing/2014/main" id="{89FD13C8-54CD-961C-0E43-F64CC11DD0BC}"/>
              </a:ext>
            </a:extLst>
          </p:cNvPr>
          <p:cNvSpPr txBox="1">
            <a:spLocks/>
          </p:cNvSpPr>
          <p:nvPr/>
        </p:nvSpPr>
        <p:spPr>
          <a:xfrm>
            <a:off x="7109660" y="3199081"/>
            <a:ext cx="4349268" cy="34855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画角調整、動画アップに時間がかかる</a:t>
            </a:r>
            <a:r>
              <a:rPr lang="en-US" altLang="ja-JP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...</a:t>
            </a:r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5BFC7D8A-E333-2F70-9925-76E10DDFF571}"/>
              </a:ext>
            </a:extLst>
          </p:cNvPr>
          <p:cNvSpPr txBox="1">
            <a:spLocks/>
          </p:cNvSpPr>
          <p:nvPr/>
        </p:nvSpPr>
        <p:spPr>
          <a:xfrm>
            <a:off x="10348773" y="2628246"/>
            <a:ext cx="1757404" cy="29161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1400" b="1" u="sng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Onedrive</a:t>
            </a:r>
            <a:r>
              <a:rPr lang="ja-JP" altLang="en-US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にアップ</a:t>
            </a:r>
            <a:endParaRPr lang="en-US" altLang="ja-JP" sz="1400" b="1" u="sng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66FE7FE-3673-D972-D5C4-06CE1E21B28F}"/>
              </a:ext>
            </a:extLst>
          </p:cNvPr>
          <p:cNvSpPr txBox="1">
            <a:spLocks/>
          </p:cNvSpPr>
          <p:nvPr/>
        </p:nvSpPr>
        <p:spPr>
          <a:xfrm>
            <a:off x="6166316" y="770161"/>
            <a:ext cx="877163" cy="34855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◆現状</a:t>
            </a:r>
          </a:p>
        </p:txBody>
      </p:sp>
      <p:sp>
        <p:nvSpPr>
          <p:cNvPr id="23" name="タイトル 1">
            <a:extLst>
              <a:ext uri="{FF2B5EF4-FFF2-40B4-BE49-F238E27FC236}">
                <a16:creationId xmlns:a16="http://schemas.microsoft.com/office/drawing/2014/main" id="{8A5ED1BF-6AFC-FDF4-2028-3F4D0885B648}"/>
              </a:ext>
            </a:extLst>
          </p:cNvPr>
          <p:cNvSpPr txBox="1">
            <a:spLocks/>
          </p:cNvSpPr>
          <p:nvPr/>
        </p:nvSpPr>
        <p:spPr>
          <a:xfrm>
            <a:off x="6166316" y="3547638"/>
            <a:ext cx="877163" cy="34855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◆目標</a:t>
            </a:r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FFD1B4D2-16D4-08DF-E74B-3BF52F6F4BEC}"/>
              </a:ext>
            </a:extLst>
          </p:cNvPr>
          <p:cNvSpPr txBox="1">
            <a:spLocks/>
          </p:cNvSpPr>
          <p:nvPr/>
        </p:nvSpPr>
        <p:spPr>
          <a:xfrm>
            <a:off x="6568486" y="3927658"/>
            <a:ext cx="4570482" cy="84715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800" b="1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・撮影セットの治具化で画角調整の効率化</a:t>
            </a:r>
            <a:endParaRPr lang="en-US" altLang="ja-JP" sz="1800" b="1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・ラズパイカメラを使用し試験動画を撮影</a:t>
            </a:r>
            <a:endParaRPr lang="en-US" altLang="ja-JP" sz="1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⇒直接サーバーにアップ可能とし効率化</a:t>
            </a:r>
            <a:endParaRPr lang="en-US" altLang="ja-JP" sz="1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26" name="Picture 2" descr="Tinker Board向け187度超広角・小型カメラモジュール">
            <a:extLst>
              <a:ext uri="{FF2B5EF4-FFF2-40B4-BE49-F238E27FC236}">
                <a16:creationId xmlns:a16="http://schemas.microsoft.com/office/drawing/2014/main" id="{5B816AAD-FAA1-6B3A-E908-56A187A54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077" y="4809725"/>
            <a:ext cx="781320" cy="781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タイトル 1">
            <a:extLst>
              <a:ext uri="{FF2B5EF4-FFF2-40B4-BE49-F238E27FC236}">
                <a16:creationId xmlns:a16="http://schemas.microsoft.com/office/drawing/2014/main" id="{8BB209A5-CA23-6743-1CA8-95F876C9BC8C}"/>
              </a:ext>
            </a:extLst>
          </p:cNvPr>
          <p:cNvSpPr txBox="1">
            <a:spLocks/>
          </p:cNvSpPr>
          <p:nvPr/>
        </p:nvSpPr>
        <p:spPr>
          <a:xfrm>
            <a:off x="6596771" y="5614633"/>
            <a:ext cx="877163" cy="597856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治具</a:t>
            </a:r>
            <a:endParaRPr lang="en-US" altLang="ja-JP" sz="1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構想中</a:t>
            </a:r>
          </a:p>
        </p:txBody>
      </p:sp>
      <p:sp>
        <p:nvSpPr>
          <p:cNvPr id="29" name="矢印: 右 28">
            <a:extLst>
              <a:ext uri="{FF2B5EF4-FFF2-40B4-BE49-F238E27FC236}">
                <a16:creationId xmlns:a16="http://schemas.microsoft.com/office/drawing/2014/main" id="{D1B1330F-10AE-08DD-97C1-33D74000B004}"/>
              </a:ext>
            </a:extLst>
          </p:cNvPr>
          <p:cNvSpPr/>
          <p:nvPr/>
        </p:nvSpPr>
        <p:spPr>
          <a:xfrm>
            <a:off x="7787140" y="5336687"/>
            <a:ext cx="462875" cy="339339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0" name="図 29" descr="コンピューターの画面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57F8C600-4C85-D8D6-3463-15E199DBA03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8174208" y="4691540"/>
            <a:ext cx="1339353" cy="1629631"/>
          </a:xfrm>
          <a:prstGeom prst="rect">
            <a:avLst/>
          </a:prstGeom>
        </p:spPr>
      </p:pic>
      <p:sp>
        <p:nvSpPr>
          <p:cNvPr id="31" name="タイトル 1">
            <a:extLst>
              <a:ext uri="{FF2B5EF4-FFF2-40B4-BE49-F238E27FC236}">
                <a16:creationId xmlns:a16="http://schemas.microsoft.com/office/drawing/2014/main" id="{1D4ECD81-852E-B16A-57C5-183148A97EFF}"/>
              </a:ext>
            </a:extLst>
          </p:cNvPr>
          <p:cNvSpPr txBox="1">
            <a:spLocks/>
          </p:cNvSpPr>
          <p:nvPr/>
        </p:nvSpPr>
        <p:spPr>
          <a:xfrm>
            <a:off x="8188018" y="6283582"/>
            <a:ext cx="1620957" cy="48551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動画をサーバーへ</a:t>
            </a:r>
            <a:endParaRPr lang="en-US" altLang="ja-JP" sz="1400" b="1" u="sng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自動アップ</a:t>
            </a:r>
            <a:endParaRPr lang="en-US" altLang="ja-JP" sz="1400" b="1" u="sng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" name="矢印: 右 31">
            <a:extLst>
              <a:ext uri="{FF2B5EF4-FFF2-40B4-BE49-F238E27FC236}">
                <a16:creationId xmlns:a16="http://schemas.microsoft.com/office/drawing/2014/main" id="{669D69AC-B014-2160-99E9-840D01B89000}"/>
              </a:ext>
            </a:extLst>
          </p:cNvPr>
          <p:cNvSpPr/>
          <p:nvPr/>
        </p:nvSpPr>
        <p:spPr>
          <a:xfrm>
            <a:off x="9824752" y="5336687"/>
            <a:ext cx="462875" cy="339339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4" name="図 33" descr="図形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E241F540-1802-D3C4-51F7-200811299D6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10635600" y="4806276"/>
            <a:ext cx="695399" cy="1390798"/>
          </a:xfrm>
          <a:prstGeom prst="rect">
            <a:avLst/>
          </a:prstGeom>
        </p:spPr>
      </p:pic>
      <p:sp>
        <p:nvSpPr>
          <p:cNvPr id="35" name="タイトル 1">
            <a:extLst>
              <a:ext uri="{FF2B5EF4-FFF2-40B4-BE49-F238E27FC236}">
                <a16:creationId xmlns:a16="http://schemas.microsoft.com/office/drawing/2014/main" id="{3F5894D5-24D6-9A80-5035-17656DAAE339}"/>
              </a:ext>
            </a:extLst>
          </p:cNvPr>
          <p:cNvSpPr txBox="1">
            <a:spLocks/>
          </p:cNvSpPr>
          <p:nvPr/>
        </p:nvSpPr>
        <p:spPr>
          <a:xfrm>
            <a:off x="10199949" y="6283582"/>
            <a:ext cx="1980029" cy="48551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依頼者へ</a:t>
            </a:r>
            <a:r>
              <a:rPr lang="en-US" altLang="ja-JP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SPO</a:t>
            </a:r>
            <a:r>
              <a:rPr lang="ja-JP" altLang="en-US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</a:t>
            </a:r>
            <a:endParaRPr lang="en-US" altLang="ja-JP" sz="1400" b="1" u="sng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通じてフィードバック</a:t>
            </a:r>
            <a:endParaRPr lang="en-US" altLang="ja-JP" sz="1400" b="1" u="sng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85019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4C35D8F0-3FC6-E16D-0E5B-56018628DEA3}"/>
              </a:ext>
            </a:extLst>
          </p:cNvPr>
          <p:cNvSpPr txBox="1">
            <a:spLocks/>
          </p:cNvSpPr>
          <p:nvPr/>
        </p:nvSpPr>
        <p:spPr>
          <a:xfrm>
            <a:off x="881558" y="1336595"/>
            <a:ext cx="9828332" cy="145886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9600" b="1" dirty="0">
                <a:solidFill>
                  <a:schemeClr val="accent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自走力</a:t>
            </a:r>
            <a:r>
              <a:rPr lang="ja-JP" altLang="en-US" sz="9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en-US" altLang="ja-JP" sz="9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×</a:t>
            </a:r>
            <a:r>
              <a:rPr lang="ja-JP" altLang="en-US" sz="9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ja-JP" altLang="en-US" sz="9600" b="1" dirty="0">
                <a:solidFill>
                  <a:schemeClr val="accent6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支援</a:t>
            </a:r>
          </a:p>
        </p:txBody>
      </p:sp>
      <p:sp>
        <p:nvSpPr>
          <p:cNvPr id="5" name="タイトル 1">
            <a:extLst>
              <a:ext uri="{FF2B5EF4-FFF2-40B4-BE49-F238E27FC236}">
                <a16:creationId xmlns:a16="http://schemas.microsoft.com/office/drawing/2014/main" id="{C5F0E4CE-F6D6-6F4C-F09E-5BA9E08274C2}"/>
              </a:ext>
            </a:extLst>
          </p:cNvPr>
          <p:cNvSpPr txBox="1">
            <a:spLocks/>
          </p:cNvSpPr>
          <p:nvPr/>
        </p:nvSpPr>
        <p:spPr>
          <a:xfrm>
            <a:off x="700404" y="2923673"/>
            <a:ext cx="4185761" cy="342555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◆学んだことを最大限活かす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●デバック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・エラーの読み方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●情報収集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・</a:t>
            </a:r>
            <a:r>
              <a:rPr lang="en-US" altLang="ja-JP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Google</a:t>
            </a:r>
          </a:p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・有識者にヒントを仰ぐ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・スライドを見返す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●マインド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・前向きに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ja-JP" altLang="en-US" sz="2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・もがき楽しむ</a:t>
            </a:r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03CB9302-E39E-24D5-B40D-10BCD3EBE320}"/>
              </a:ext>
            </a:extLst>
          </p:cNvPr>
          <p:cNvSpPr txBox="1">
            <a:spLocks/>
          </p:cNvSpPr>
          <p:nvPr/>
        </p:nvSpPr>
        <p:spPr>
          <a:xfrm>
            <a:off x="7305835" y="2923673"/>
            <a:ext cx="4185761" cy="209595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◆解答例に頼らない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●質問のリファクタリング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・質問内容の明確化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・言語化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●マインド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・感謝</a:t>
            </a:r>
          </a:p>
        </p:txBody>
      </p:sp>
      <p:sp>
        <p:nvSpPr>
          <p:cNvPr id="7" name="タイトル 1">
            <a:extLst>
              <a:ext uri="{FF2B5EF4-FFF2-40B4-BE49-F238E27FC236}">
                <a16:creationId xmlns:a16="http://schemas.microsoft.com/office/drawing/2014/main" id="{80C9FC62-46EC-AB86-47C0-56F27887D65D}"/>
              </a:ext>
            </a:extLst>
          </p:cNvPr>
          <p:cNvSpPr txBox="1">
            <a:spLocks/>
          </p:cNvSpPr>
          <p:nvPr/>
        </p:nvSpPr>
        <p:spPr>
          <a:xfrm>
            <a:off x="1994367" y="774413"/>
            <a:ext cx="1328633" cy="43396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python</a:t>
            </a:r>
            <a:endParaRPr lang="ja-JP" altLang="en-US" sz="2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F9E617C4-40A7-E212-081B-F1BDCEE6ABDD}"/>
              </a:ext>
            </a:extLst>
          </p:cNvPr>
          <p:cNvSpPr txBox="1">
            <a:spLocks/>
          </p:cNvSpPr>
          <p:nvPr/>
        </p:nvSpPr>
        <p:spPr>
          <a:xfrm>
            <a:off x="8645333" y="774413"/>
            <a:ext cx="1415772" cy="43396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ラズパイ</a:t>
            </a:r>
          </a:p>
        </p:txBody>
      </p:sp>
      <p:sp>
        <p:nvSpPr>
          <p:cNvPr id="9" name="タイトル 1">
            <a:extLst>
              <a:ext uri="{FF2B5EF4-FFF2-40B4-BE49-F238E27FC236}">
                <a16:creationId xmlns:a16="http://schemas.microsoft.com/office/drawing/2014/main" id="{70F4631C-2697-3297-37C6-9848277A6C1C}"/>
              </a:ext>
            </a:extLst>
          </p:cNvPr>
          <p:cNvSpPr txBox="1">
            <a:spLocks/>
          </p:cNvSpPr>
          <p:nvPr/>
        </p:nvSpPr>
        <p:spPr>
          <a:xfrm>
            <a:off x="240594" y="201397"/>
            <a:ext cx="2954655" cy="43396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意識した取り組み方</a:t>
            </a:r>
          </a:p>
        </p:txBody>
      </p:sp>
    </p:spTree>
    <p:extLst>
      <p:ext uri="{BB962C8B-B14F-4D97-AF65-F5344CB8AC3E}">
        <p14:creationId xmlns:p14="http://schemas.microsoft.com/office/powerpoint/2010/main" val="255148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12837-C8DD-791C-9262-EB88800F8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F99DF5BD-8F85-DE34-6CA2-ED9468C703F5}"/>
              </a:ext>
            </a:extLst>
          </p:cNvPr>
          <p:cNvSpPr txBox="1">
            <a:spLocks/>
          </p:cNvSpPr>
          <p:nvPr/>
        </p:nvSpPr>
        <p:spPr>
          <a:xfrm>
            <a:off x="204159" y="201398"/>
            <a:ext cx="11543545" cy="43396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“</a:t>
            </a: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自走力</a:t>
            </a:r>
            <a:r>
              <a:rPr lang="en-US" altLang="ja-JP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を意識し、組んだコード　</a:t>
            </a:r>
            <a:r>
              <a:rPr lang="en-US" altLang="ja-JP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+</a:t>
            </a: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ラズパイ知識をデジタル支援組から学ぶ</a:t>
            </a:r>
          </a:p>
        </p:txBody>
      </p:sp>
      <p:sp>
        <p:nvSpPr>
          <p:cNvPr id="5" name="タイトル 1">
            <a:extLst>
              <a:ext uri="{FF2B5EF4-FFF2-40B4-BE49-F238E27FC236}">
                <a16:creationId xmlns:a16="http://schemas.microsoft.com/office/drawing/2014/main" id="{4D0CCA38-E0F5-5713-46E9-023AACC9C580}"/>
              </a:ext>
            </a:extLst>
          </p:cNvPr>
          <p:cNvSpPr txBox="1">
            <a:spLocks/>
          </p:cNvSpPr>
          <p:nvPr/>
        </p:nvSpPr>
        <p:spPr>
          <a:xfrm>
            <a:off x="444296" y="678067"/>
            <a:ext cx="2720617" cy="34855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●コードをご紹介</a:t>
            </a:r>
            <a:r>
              <a:rPr lang="en-US" altLang="ja-JP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一部</a:t>
            </a:r>
            <a:r>
              <a:rPr lang="en-US" altLang="ja-JP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lang="ja-JP" altLang="en-US" sz="1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D5516571-D94E-270D-0F02-1C9B85CE3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296" y="1240970"/>
            <a:ext cx="3800573" cy="5196575"/>
          </a:xfrm>
          <a:prstGeom prst="rect">
            <a:avLst/>
          </a:prstGeom>
        </p:spPr>
      </p:pic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C3A76FB9-1443-46B9-892C-243195ACE24B}"/>
              </a:ext>
            </a:extLst>
          </p:cNvPr>
          <p:cNvGrpSpPr/>
          <p:nvPr/>
        </p:nvGrpSpPr>
        <p:grpSpPr>
          <a:xfrm>
            <a:off x="6616460" y="1240970"/>
            <a:ext cx="3321171" cy="5196575"/>
            <a:chOff x="4569013" y="1240970"/>
            <a:chExt cx="3626596" cy="5415632"/>
          </a:xfrm>
        </p:grpSpPr>
        <p:pic>
          <p:nvPicPr>
            <p:cNvPr id="20" name="図 19">
              <a:extLst>
                <a:ext uri="{FF2B5EF4-FFF2-40B4-BE49-F238E27FC236}">
                  <a16:creationId xmlns:a16="http://schemas.microsoft.com/office/drawing/2014/main" id="{990C7977-FE60-87B8-B636-8768B71E9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69013" y="1240970"/>
              <a:ext cx="3626595" cy="5196575"/>
            </a:xfrm>
            <a:prstGeom prst="rect">
              <a:avLst/>
            </a:prstGeom>
          </p:spPr>
        </p:pic>
        <p:pic>
          <p:nvPicPr>
            <p:cNvPr id="22" name="図 21">
              <a:extLst>
                <a:ext uri="{FF2B5EF4-FFF2-40B4-BE49-F238E27FC236}">
                  <a16:creationId xmlns:a16="http://schemas.microsoft.com/office/drawing/2014/main" id="{4315E5C7-2E86-2F48-D36A-B3F34ED06E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37" t="91935" r="15535" b="3849"/>
            <a:stretch/>
          </p:blipFill>
          <p:spPr>
            <a:xfrm>
              <a:off x="4569013" y="6437544"/>
              <a:ext cx="3626596" cy="219058"/>
            </a:xfrm>
            <a:prstGeom prst="rect">
              <a:avLst/>
            </a:prstGeom>
          </p:spPr>
        </p:pic>
      </p:grp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7F33C6A2-300C-CE80-C2C4-9D95651798A4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1949570" y="3200400"/>
            <a:ext cx="2613804" cy="15527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タイトル 1">
            <a:extLst>
              <a:ext uri="{FF2B5EF4-FFF2-40B4-BE49-F238E27FC236}">
                <a16:creationId xmlns:a16="http://schemas.microsoft.com/office/drawing/2014/main" id="{AAAF872D-5B0B-67B8-380D-E861BF55EC4E}"/>
              </a:ext>
            </a:extLst>
          </p:cNvPr>
          <p:cNvSpPr txBox="1">
            <a:spLocks/>
          </p:cNvSpPr>
          <p:nvPr/>
        </p:nvSpPr>
        <p:spPr>
          <a:xfrm>
            <a:off x="4563374" y="3026121"/>
            <a:ext cx="1749903" cy="34855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Tkinter</a:t>
            </a: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を使用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C6162F5-7875-5B7A-E6C9-FC65A201C9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7234" y="3954356"/>
            <a:ext cx="1238423" cy="657317"/>
          </a:xfrm>
          <a:prstGeom prst="rect">
            <a:avLst/>
          </a:prstGeom>
        </p:spPr>
      </p:pic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F576AF9B-7350-A411-D6C5-3561DBFDD5DF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2725947" y="4283015"/>
            <a:ext cx="1881287" cy="26310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1548D7D0-0936-C3D3-A19E-D84A5603015D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4049205" y="6007406"/>
            <a:ext cx="514169" cy="6559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タイトル 1">
            <a:extLst>
              <a:ext uri="{FF2B5EF4-FFF2-40B4-BE49-F238E27FC236}">
                <a16:creationId xmlns:a16="http://schemas.microsoft.com/office/drawing/2014/main" id="{674A4DD2-B1E4-D823-F7FE-D84B7366D901}"/>
              </a:ext>
            </a:extLst>
          </p:cNvPr>
          <p:cNvSpPr txBox="1">
            <a:spLocks/>
          </p:cNvSpPr>
          <p:nvPr/>
        </p:nvSpPr>
        <p:spPr>
          <a:xfrm>
            <a:off x="4563374" y="5583828"/>
            <a:ext cx="1749903" cy="84715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指定の名前で</a:t>
            </a:r>
            <a:endParaRPr lang="en-US" altLang="ja-JP" sz="1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フォルダを</a:t>
            </a:r>
            <a:endParaRPr lang="en-US" altLang="ja-JP" sz="1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作成</a:t>
            </a: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0C1C4445-A3B6-FE9A-9109-99FD9E06F874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8436633" y="2415396"/>
            <a:ext cx="1645235" cy="10614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タイトル 1">
            <a:extLst>
              <a:ext uri="{FF2B5EF4-FFF2-40B4-BE49-F238E27FC236}">
                <a16:creationId xmlns:a16="http://schemas.microsoft.com/office/drawing/2014/main" id="{ADADC50F-6EC1-4E0D-CE1E-66FB3FFBAD93}"/>
              </a:ext>
            </a:extLst>
          </p:cNvPr>
          <p:cNvSpPr txBox="1">
            <a:spLocks/>
          </p:cNvSpPr>
          <p:nvPr/>
        </p:nvSpPr>
        <p:spPr>
          <a:xfrm>
            <a:off x="10081868" y="2116468"/>
            <a:ext cx="2031325" cy="597856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試験片ナンバーを</a:t>
            </a:r>
            <a:endParaRPr lang="en-US" altLang="ja-JP" sz="1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入力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05C72818-7B39-972E-1A32-66404A0D625E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8436633" y="4312745"/>
            <a:ext cx="1645235" cy="10614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4" name="タイトル 1">
            <a:extLst>
              <a:ext uri="{FF2B5EF4-FFF2-40B4-BE49-F238E27FC236}">
                <a16:creationId xmlns:a16="http://schemas.microsoft.com/office/drawing/2014/main" id="{4494FAE8-FB7D-7D58-856C-9ACE29CD5276}"/>
              </a:ext>
            </a:extLst>
          </p:cNvPr>
          <p:cNvSpPr txBox="1">
            <a:spLocks/>
          </p:cNvSpPr>
          <p:nvPr/>
        </p:nvSpPr>
        <p:spPr>
          <a:xfrm>
            <a:off x="10081868" y="4138466"/>
            <a:ext cx="1800493" cy="34855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保存パスの作成</a:t>
            </a:r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7ACEFB5C-603C-A7EB-C693-A6A1D3DD62B1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9282023" y="5824496"/>
            <a:ext cx="799845" cy="17427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6" name="タイトル 1">
            <a:extLst>
              <a:ext uri="{FF2B5EF4-FFF2-40B4-BE49-F238E27FC236}">
                <a16:creationId xmlns:a16="http://schemas.microsoft.com/office/drawing/2014/main" id="{E604E06A-925D-0ACE-BCC5-B615FA546F6A}"/>
              </a:ext>
            </a:extLst>
          </p:cNvPr>
          <p:cNvSpPr txBox="1">
            <a:spLocks/>
          </p:cNvSpPr>
          <p:nvPr/>
        </p:nvSpPr>
        <p:spPr>
          <a:xfrm>
            <a:off x="10081868" y="5650217"/>
            <a:ext cx="1800493" cy="34855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録画開始</a:t>
            </a:r>
          </a:p>
        </p:txBody>
      </p:sp>
    </p:spTree>
    <p:extLst>
      <p:ext uri="{BB962C8B-B14F-4D97-AF65-F5344CB8AC3E}">
        <p14:creationId xmlns:p14="http://schemas.microsoft.com/office/powerpoint/2010/main" val="4038531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EB8B5-B3CA-4C7F-4C86-11FBDA05D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B4A14F62-E5DF-4E3F-F0B6-5B84C23458FB}"/>
              </a:ext>
            </a:extLst>
          </p:cNvPr>
          <p:cNvSpPr txBox="1">
            <a:spLocks/>
          </p:cNvSpPr>
          <p:nvPr/>
        </p:nvSpPr>
        <p:spPr>
          <a:xfrm>
            <a:off x="204159" y="3945070"/>
            <a:ext cx="1107996" cy="43396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この先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E6011D3-30F2-63E6-2BC0-785B122F9570}"/>
              </a:ext>
            </a:extLst>
          </p:cNvPr>
          <p:cNvSpPr txBox="1">
            <a:spLocks/>
          </p:cNvSpPr>
          <p:nvPr/>
        </p:nvSpPr>
        <p:spPr>
          <a:xfrm>
            <a:off x="642703" y="4861686"/>
            <a:ext cx="9469259" cy="34855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“</a:t>
            </a: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ラズパイ</a:t>
            </a:r>
            <a:r>
              <a:rPr lang="en-US" altLang="ja-JP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×</a:t>
            </a: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治具</a:t>
            </a:r>
            <a:r>
              <a:rPr lang="en-US" altLang="ja-JP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 </a:t>
            </a: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で試験動画撮影</a:t>
            </a:r>
            <a:r>
              <a:rPr lang="en-US" altLang="ja-JP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動画データのアップ、データ移動、画角調整</a:t>
            </a:r>
            <a:r>
              <a:rPr lang="en-US" altLang="ja-JP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を効率化</a:t>
            </a:r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7616D3DB-FF3E-6E4B-40B0-CDE7C6933F75}"/>
              </a:ext>
            </a:extLst>
          </p:cNvPr>
          <p:cNvSpPr txBox="1">
            <a:spLocks/>
          </p:cNvSpPr>
          <p:nvPr/>
        </p:nvSpPr>
        <p:spPr>
          <a:xfrm>
            <a:off x="333555" y="4421739"/>
            <a:ext cx="2723823" cy="34855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◆チャレンジの最終目標</a:t>
            </a:r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9E8CCBD0-F3A4-B037-D360-515DAF5665DF}"/>
              </a:ext>
            </a:extLst>
          </p:cNvPr>
          <p:cNvSpPr txBox="1">
            <a:spLocks/>
          </p:cNvSpPr>
          <p:nvPr/>
        </p:nvSpPr>
        <p:spPr>
          <a:xfrm>
            <a:off x="333555" y="5396524"/>
            <a:ext cx="8555868" cy="34855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◆</a:t>
            </a:r>
            <a:r>
              <a:rPr lang="en-US" altLang="ja-JP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【DIG</a:t>
            </a: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カレッジ</a:t>
            </a:r>
            <a:r>
              <a:rPr lang="en-US" altLang="ja-JP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】Python </a:t>
            </a: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プログラミング基礎</a:t>
            </a:r>
            <a:r>
              <a:rPr lang="en-US" altLang="ja-JP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-2</a:t>
            </a: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受講を終えて実施すること。</a:t>
            </a:r>
          </a:p>
        </p:txBody>
      </p:sp>
      <p:sp>
        <p:nvSpPr>
          <p:cNvPr id="7" name="タイトル 1">
            <a:extLst>
              <a:ext uri="{FF2B5EF4-FFF2-40B4-BE49-F238E27FC236}">
                <a16:creationId xmlns:a16="http://schemas.microsoft.com/office/drawing/2014/main" id="{8253807C-1D1F-27CA-AF72-615A5760E591}"/>
              </a:ext>
            </a:extLst>
          </p:cNvPr>
          <p:cNvSpPr txBox="1">
            <a:spLocks/>
          </p:cNvSpPr>
          <p:nvPr/>
        </p:nvSpPr>
        <p:spPr>
          <a:xfrm>
            <a:off x="204159" y="597865"/>
            <a:ext cx="800219" cy="43396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学び</a:t>
            </a:r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A6537A95-C90A-DFFD-5993-771271B583CF}"/>
              </a:ext>
            </a:extLst>
          </p:cNvPr>
          <p:cNvSpPr txBox="1">
            <a:spLocks/>
          </p:cNvSpPr>
          <p:nvPr/>
        </p:nvSpPr>
        <p:spPr>
          <a:xfrm>
            <a:off x="642703" y="5934465"/>
            <a:ext cx="8032968" cy="34855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・データを多く扱う職場なので、データの可視化方法の改善にもチャレンジ</a:t>
            </a:r>
          </a:p>
        </p:txBody>
      </p:sp>
      <p:sp>
        <p:nvSpPr>
          <p:cNvPr id="5" name="タイトル 1">
            <a:extLst>
              <a:ext uri="{FF2B5EF4-FFF2-40B4-BE49-F238E27FC236}">
                <a16:creationId xmlns:a16="http://schemas.microsoft.com/office/drawing/2014/main" id="{37AB4D01-0A06-AADC-763C-DB66B8502DA3}"/>
              </a:ext>
            </a:extLst>
          </p:cNvPr>
          <p:cNvSpPr txBox="1">
            <a:spLocks/>
          </p:cNvSpPr>
          <p:nvPr/>
        </p:nvSpPr>
        <p:spPr>
          <a:xfrm>
            <a:off x="204159" y="1252882"/>
            <a:ext cx="12187952" cy="21352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・すぐに</a:t>
            </a:r>
            <a:r>
              <a:rPr lang="en-US" altLang="ja-JP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に頼りがちであったが、</a:t>
            </a:r>
            <a:r>
              <a:rPr lang="en-US" altLang="ja-JP" sz="18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lang="ja-JP" altLang="en-US" sz="18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自走力</a:t>
            </a:r>
            <a:r>
              <a:rPr lang="en-US" altLang="ja-JP" sz="18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を意識し、自ら調べてはエラーを繰り返すことで</a:t>
            </a:r>
            <a:endParaRPr lang="en-US" altLang="ja-JP" sz="1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理解がより深まっていくことを体感しながら学ぶことができた。</a:t>
            </a:r>
            <a:endParaRPr lang="en-US" altLang="ja-JP" sz="1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⇒今後、</a:t>
            </a:r>
            <a:r>
              <a:rPr lang="en-US" altLang="ja-JP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をうまく活用しながらも、中身をしっかり知ることを意識して学びを深めていく。</a:t>
            </a:r>
            <a:endParaRPr lang="en-US" altLang="ja-JP" sz="1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・ペアワークを通して、心理的安全性の高い場を作る意識が、チームで仕事をする際に必要であることを学んだ。</a:t>
            </a:r>
            <a:endParaRPr lang="en-US" altLang="ja-JP" sz="1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⇒職場に持ち帰り、日ごろメンバーとの仕事を進める際に発揮することで、風通しの良い職場づくりに貢献する。</a:t>
            </a:r>
          </a:p>
        </p:txBody>
      </p:sp>
    </p:spTree>
    <p:extLst>
      <p:ext uri="{BB962C8B-B14F-4D97-AF65-F5344CB8AC3E}">
        <p14:creationId xmlns:p14="http://schemas.microsoft.com/office/powerpoint/2010/main" val="3976568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1c1335e-f582-42a9-b6fe-5e1a16eb9bc8}" enabled="0" method="" siteId="{d1c1335e-f582-42a9-b6fe-5e1a16eb9bc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616</TotalTime>
  <Words>495</Words>
  <Application>Microsoft Office PowerPoint</Application>
  <PresentationFormat>ワイド画面</PresentationFormat>
  <Paragraphs>75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メイリオ</vt:lpstr>
      <vt:lpstr>游ゴシック</vt:lpstr>
      <vt:lpstr>游ゴシック Light</vt:lpstr>
      <vt:lpstr>Arial</vt:lpstr>
      <vt:lpstr>Office テーマ</vt:lpstr>
      <vt:lpstr>ラズパイを活用し 　　　業務効率化にチャレンジ！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Kishimori, Tsubasa/岸森 翼</dc:creator>
  <cp:lastModifiedBy>Kishimori, Tsubasa/岸森 翼</cp:lastModifiedBy>
  <cp:revision>2</cp:revision>
  <dcterms:created xsi:type="dcterms:W3CDTF">2026-01-18T23:30:30Z</dcterms:created>
  <dcterms:modified xsi:type="dcterms:W3CDTF">2026-01-20T08:15:38Z</dcterms:modified>
</cp:coreProperties>
</file>